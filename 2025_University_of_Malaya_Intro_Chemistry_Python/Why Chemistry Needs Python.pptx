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8" r:id="rId3"/>
    <p:sldId id="260" r:id="rId4"/>
    <p:sldId id="262" r:id="rId5"/>
    <p:sldId id="263" r:id="rId6"/>
    <p:sldId id="267" r:id="rId7"/>
    <p:sldId id="264" r:id="rId8"/>
    <p:sldId id="265" r:id="rId9"/>
    <p:sldId id="266" r:id="rId10"/>
    <p:sldId id="269" r:id="rId11"/>
    <p:sldId id="276" r:id="rId12"/>
    <p:sldId id="274" r:id="rId13"/>
    <p:sldId id="275" r:id="rId14"/>
    <p:sldId id="268" r:id="rId15"/>
    <p:sldId id="271" r:id="rId16"/>
    <p:sldId id="270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064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71130B-85D0-491D-8CFD-1EC251EBAE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FD13F-1FD7-44A2-8A73-06D241D7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983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FD13F-1FD7-44A2-8A73-06D241D715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192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381B-70AA-46A5-A9E8-E67989E42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0349-A926-4435-8B33-32D7C1E8E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59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381B-70AA-46A5-A9E8-E67989E42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0349-A926-4435-8B33-32D7C1E8E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76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381B-70AA-46A5-A9E8-E67989E42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0349-A926-4435-8B33-32D7C1E8E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58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381B-70AA-46A5-A9E8-E67989E42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0349-A926-4435-8B33-32D7C1E8E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45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381B-70AA-46A5-A9E8-E67989E42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0349-A926-4435-8B33-32D7C1E8E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268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381B-70AA-46A5-A9E8-E67989E42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0349-A926-4435-8B33-32D7C1E8E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2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381B-70AA-46A5-A9E8-E67989E42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0349-A926-4435-8B33-32D7C1E8E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652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381B-70AA-46A5-A9E8-E67989E42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0349-A926-4435-8B33-32D7C1E8E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64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381B-70AA-46A5-A9E8-E67989E42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0349-A926-4435-8B33-32D7C1E8E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7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381B-70AA-46A5-A9E8-E67989E42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0349-A926-4435-8B33-32D7C1E8E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86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381B-70AA-46A5-A9E8-E67989E42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0349-A926-4435-8B33-32D7C1E8E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78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9381B-70AA-46A5-A9E8-E67989E424D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CA0349-A926-4435-8B33-32D7C1E8E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4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2.svg"/><Relationship Id="rId7" Type="http://schemas.openxmlformats.org/officeDocument/2006/relationships/image" Target="../media/image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48197-C1CA-A671-E29A-C1C9CD67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1019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/>
              <a:t>Why Chemistry Needs Python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C407B-B76D-2370-B4F3-27D6B65B4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568032"/>
            <a:ext cx="9144000" cy="1655762"/>
          </a:xfrm>
        </p:spPr>
        <p:txBody>
          <a:bodyPr/>
          <a:lstStyle/>
          <a:p>
            <a:r>
              <a:rPr lang="en-US" dirty="0"/>
              <a:t>Assistant Professor Dr. </a:t>
            </a:r>
            <a:r>
              <a:rPr lang="en-US" b="1" dirty="0"/>
              <a:t>Dennis Svatunek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University of Malaya, 6</a:t>
            </a:r>
            <a:r>
              <a:rPr lang="en-US" baseline="30000" dirty="0"/>
              <a:t>th</a:t>
            </a:r>
            <a:r>
              <a:rPr lang="en-US" dirty="0"/>
              <a:t> of November 2025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AF4287D-413D-EDDF-BC89-F8F91BEAB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35952"/>
            <a:ext cx="5928270" cy="11856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4C588E-C53B-1542-6878-84E33A253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121" y="235953"/>
            <a:ext cx="2285999" cy="104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082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AB90C-CEC0-2AE3-A5F0-6C01308A5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63" y="2095255"/>
            <a:ext cx="3315743" cy="1793082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b="1" dirty="0"/>
              <a:t>svatunek-lab.com</a:t>
            </a:r>
          </a:p>
          <a:p>
            <a:pPr marL="0" indent="0" algn="ctr">
              <a:buNone/>
            </a:pPr>
            <a:endParaRPr lang="en-US" sz="2400" b="1" dirty="0"/>
          </a:p>
          <a:p>
            <a:pPr marL="0" indent="0" algn="ctr">
              <a:buNone/>
            </a:pPr>
            <a:endParaRPr lang="en-US" sz="2400" b="1" dirty="0"/>
          </a:p>
          <a:p>
            <a:pPr marL="0" indent="0" algn="ctr">
              <a:buNone/>
            </a:pPr>
            <a:endParaRPr lang="en-US" sz="2400" b="1" dirty="0"/>
          </a:p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7" name="Picture 6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96AA6F77-E5BD-31EA-06C4-9B28B4545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694" y="2464249"/>
            <a:ext cx="1793081" cy="17930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22364E-E6AD-9C7E-B995-B39B4CB282DD}"/>
              </a:ext>
            </a:extLst>
          </p:cNvPr>
          <p:cNvSpPr txBox="1"/>
          <p:nvPr/>
        </p:nvSpPr>
        <p:spPr>
          <a:xfrm>
            <a:off x="3809407" y="2095256"/>
            <a:ext cx="60971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teaching.svatunek-lab.com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8BE7AB-F850-2EE1-EC2F-F66BAE9AEE32}"/>
              </a:ext>
            </a:extLst>
          </p:cNvPr>
          <p:cNvSpPr txBox="1">
            <a:spLocks/>
          </p:cNvSpPr>
          <p:nvPr/>
        </p:nvSpPr>
        <p:spPr>
          <a:xfrm>
            <a:off x="-685800" y="4828966"/>
            <a:ext cx="10515600" cy="1793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/>
              <a:t>Research Talk: 11.11.2025 10 am</a:t>
            </a:r>
          </a:p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endParaRPr lang="en-US" sz="3600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2" name="Picture 11" descr="A qr code with a few black squares&#10;&#10;AI-generated content may be incorrect.">
            <a:extLst>
              <a:ext uri="{FF2B5EF4-FFF2-40B4-BE49-F238E27FC236}">
                <a16:creationId xmlns:a16="http://schemas.microsoft.com/office/drawing/2014/main" id="{B354E557-1A48-AE27-B31C-629A502F40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461" y="2464249"/>
            <a:ext cx="1793081" cy="179308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3B66C7-9887-D701-CFA9-E5AD2CE1D5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35952"/>
            <a:ext cx="5928270" cy="11856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BC5A99-96C6-A5DC-617B-F6DD73A4BC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121" y="235953"/>
            <a:ext cx="2285999" cy="104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58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3C0E8-7130-9883-531E-209845060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Computational Chemistry?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F455A-C202-68BF-766D-3CEEA1625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Computational chemistry is the science of </a:t>
            </a:r>
            <a:r>
              <a:rPr lang="en-US" b="1" dirty="0"/>
              <a:t>simulating chemical systems</a:t>
            </a:r>
            <a:r>
              <a:rPr lang="en-US" dirty="0"/>
              <a:t> on a computer.</a:t>
            </a:r>
          </a:p>
          <a:p>
            <a:pPr marL="0" indent="0">
              <a:buNone/>
            </a:pPr>
            <a:r>
              <a:rPr lang="en-US" dirty="0"/>
              <a:t>It allows us to:</a:t>
            </a:r>
          </a:p>
          <a:p>
            <a:r>
              <a:rPr lang="en-US" b="1" dirty="0"/>
              <a:t>Model molecules and reactions</a:t>
            </a:r>
            <a:r>
              <a:rPr lang="en-US" dirty="0"/>
              <a:t> instead of (or before) doing experiments</a:t>
            </a:r>
          </a:p>
          <a:p>
            <a:r>
              <a:rPr lang="en-US" b="1" dirty="0"/>
              <a:t>Simulate</a:t>
            </a:r>
            <a:r>
              <a:rPr lang="en-US" dirty="0"/>
              <a:t> properties such as structure, energy, spectra, and reactivity</a:t>
            </a:r>
          </a:p>
          <a:p>
            <a:r>
              <a:rPr lang="en-US" b="1" dirty="0"/>
              <a:t>Explore</a:t>
            </a:r>
            <a:r>
              <a:rPr lang="en-US" dirty="0"/>
              <a:t> mechanisms, reaction pathways, and material properties</a:t>
            </a:r>
          </a:p>
          <a:p>
            <a:r>
              <a:rPr lang="en-US" b="1" dirty="0"/>
              <a:t>Design</a:t>
            </a:r>
            <a:r>
              <a:rPr lang="en-US" dirty="0"/>
              <a:t> new molecules, catalysts, and drugs using computation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20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6BB2C-E5BE-C8D0-61CC-412BB8374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8E8FF-AAE6-554F-A443-51E753572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Cheminformatics?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D65FB-E94D-2E79-D809-AAEB9E5B3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319" y="1825625"/>
            <a:ext cx="8708232" cy="4667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Cheminformatics combines chemistry, data science, and computer science to analyze, predict, and design chemical compounds using data. </a:t>
            </a:r>
          </a:p>
          <a:p>
            <a:pPr marL="0" indent="0">
              <a:buNone/>
            </a:pPr>
            <a:r>
              <a:rPr lang="en-US" dirty="0"/>
              <a:t>It involves:</a:t>
            </a:r>
          </a:p>
          <a:p>
            <a:r>
              <a:rPr lang="en-US" b="1" dirty="0"/>
              <a:t>Representing molecules</a:t>
            </a:r>
            <a:r>
              <a:rPr lang="en-US" dirty="0"/>
              <a:t> digitally (e.g., SMILES, fingerprints, graphs)</a:t>
            </a:r>
          </a:p>
          <a:p>
            <a:r>
              <a:rPr lang="en-US" b="1" dirty="0"/>
              <a:t>Searching and comparing</a:t>
            </a:r>
            <a:r>
              <a:rPr lang="en-US" dirty="0"/>
              <a:t> chemical structures and properties</a:t>
            </a:r>
          </a:p>
          <a:p>
            <a:r>
              <a:rPr lang="en-US" b="1" dirty="0"/>
              <a:t>Predicting</a:t>
            </a:r>
            <a:r>
              <a:rPr lang="en-US" dirty="0"/>
              <a:t> reactivity, toxicity, or activity using </a:t>
            </a:r>
            <a:r>
              <a:rPr lang="en-US" b="1" dirty="0"/>
              <a:t>machine learning</a:t>
            </a:r>
            <a:endParaRPr lang="en-US" dirty="0"/>
          </a:p>
          <a:p>
            <a:r>
              <a:rPr lang="en-US" b="1" dirty="0"/>
              <a:t>Managing and visualizing</a:t>
            </a:r>
            <a:r>
              <a:rPr lang="en-US" dirty="0"/>
              <a:t> large chemical datasets</a:t>
            </a:r>
          </a:p>
        </p:txBody>
      </p:sp>
    </p:spTree>
    <p:extLst>
      <p:ext uri="{BB962C8B-B14F-4D97-AF65-F5344CB8AC3E}">
        <p14:creationId xmlns:p14="http://schemas.microsoft.com/office/powerpoint/2010/main" val="82877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5325A-AD10-2961-6CD8-319F3D151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38A50-FA8E-E55E-30F0-1C4AF839C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Python in Chemistry?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5782F-C151-CCF1-F15A-D65D42E0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Python is widely used across scientific disciplines for its clarity, flexibility, and large ecosystem of tools.</a:t>
            </a:r>
          </a:p>
          <a:p>
            <a:pPr marL="0" indent="0">
              <a:buNone/>
            </a:pPr>
            <a:r>
              <a:rPr lang="en-US" dirty="0"/>
              <a:t>It allows chemists to:</a:t>
            </a:r>
          </a:p>
          <a:p>
            <a:r>
              <a:rPr lang="en-US" b="1" dirty="0"/>
              <a:t>Automate</a:t>
            </a:r>
            <a:r>
              <a:rPr lang="en-US" dirty="0"/>
              <a:t> calculations, analyses, and simulations</a:t>
            </a:r>
          </a:p>
          <a:p>
            <a:r>
              <a:rPr lang="en-US" b="1" dirty="0"/>
              <a:t>Process and visualize</a:t>
            </a:r>
            <a:r>
              <a:rPr lang="en-US" dirty="0"/>
              <a:t> chemical and experimental data</a:t>
            </a:r>
          </a:p>
          <a:p>
            <a:r>
              <a:rPr lang="en-US" b="1" dirty="0"/>
              <a:t>Connect</a:t>
            </a:r>
            <a:r>
              <a:rPr lang="en-US" dirty="0"/>
              <a:t> quantum chemistry, molecular modeling, and AI tools</a:t>
            </a:r>
          </a:p>
          <a:p>
            <a:r>
              <a:rPr lang="en-US" b="1" dirty="0"/>
              <a:t>Build</a:t>
            </a:r>
            <a:r>
              <a:rPr lang="en-US" dirty="0"/>
              <a:t> custom workflows for research and teaching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89252-1DF6-BDC5-05F2-28A9AB055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620C-61F7-F080-07CB-61E9DB72E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Molecules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515642-81BD-D9F4-B885-2DDE24A0D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402" y="2021684"/>
            <a:ext cx="3235200" cy="19777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F48A21-2B0B-70EC-73EB-29E6570E2A55}"/>
              </a:ext>
            </a:extLst>
          </p:cNvPr>
          <p:cNvSpPr txBox="1"/>
          <p:nvPr/>
        </p:nvSpPr>
        <p:spPr>
          <a:xfrm>
            <a:off x="2042693" y="3989383"/>
            <a:ext cx="5058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3-Cyclohexanyl acetate</a:t>
            </a:r>
            <a:endParaRPr lang="en-A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0BB9B3-ACD7-19DB-7FBD-559DA7F3CF39}"/>
              </a:ext>
            </a:extLst>
          </p:cNvPr>
          <p:cNvSpPr txBox="1"/>
          <p:nvPr/>
        </p:nvSpPr>
        <p:spPr>
          <a:xfrm>
            <a:off x="-328155" y="4974798"/>
            <a:ext cx="98003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O=C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7030A0"/>
                </a:solidFill>
              </a:rPr>
              <a:t>O</a:t>
            </a:r>
            <a:r>
              <a:rPr lang="en-US" sz="2800" dirty="0">
                <a:solidFill>
                  <a:srgbClr val="0070C0"/>
                </a:solidFill>
              </a:rPr>
              <a:t>C1CC=CCC1</a:t>
            </a:r>
            <a:r>
              <a:rPr lang="en-US" sz="2800" dirty="0"/>
              <a:t>)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BA0EDE1-EF07-7552-5839-6AE1F0836F69}"/>
              </a:ext>
            </a:extLst>
          </p:cNvPr>
          <p:cNvSpPr/>
          <p:nvPr/>
        </p:nvSpPr>
        <p:spPr>
          <a:xfrm>
            <a:off x="5136165" y="2475618"/>
            <a:ext cx="492926" cy="1135979"/>
          </a:xfrm>
          <a:prstGeom prst="ellipse">
            <a:avLst/>
          </a:prstGeom>
          <a:solidFill>
            <a:srgbClr val="FF0000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AA44286-4E28-E25F-B9EA-A4011F60CE05}"/>
              </a:ext>
            </a:extLst>
          </p:cNvPr>
          <p:cNvSpPr/>
          <p:nvPr/>
        </p:nvSpPr>
        <p:spPr>
          <a:xfrm>
            <a:off x="5629091" y="2212326"/>
            <a:ext cx="492926" cy="463779"/>
          </a:xfrm>
          <a:prstGeom prst="ellipse">
            <a:avLst/>
          </a:prstGeom>
          <a:solidFill>
            <a:schemeClr val="accent6">
              <a:lumMod val="7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FC1C0D5-0229-0141-2B47-8EA1EF9140B8}"/>
              </a:ext>
            </a:extLst>
          </p:cNvPr>
          <p:cNvSpPr/>
          <p:nvPr/>
        </p:nvSpPr>
        <p:spPr>
          <a:xfrm>
            <a:off x="2992353" y="2268668"/>
            <a:ext cx="1612934" cy="1517561"/>
          </a:xfrm>
          <a:prstGeom prst="ellipse">
            <a:avLst/>
          </a:prstGeom>
          <a:solidFill>
            <a:srgbClr val="0070C0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ACEF866-5209-EFA6-974C-315BD22C7A19}"/>
              </a:ext>
            </a:extLst>
          </p:cNvPr>
          <p:cNvSpPr/>
          <p:nvPr/>
        </p:nvSpPr>
        <p:spPr>
          <a:xfrm>
            <a:off x="4605287" y="2212326"/>
            <a:ext cx="492926" cy="463779"/>
          </a:xfrm>
          <a:prstGeom prst="ellipse">
            <a:avLst/>
          </a:prstGeom>
          <a:solidFill>
            <a:srgbClr val="7030A0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7A3E938-BA49-9D41-31DB-A946337C583C}"/>
              </a:ext>
            </a:extLst>
          </p:cNvPr>
          <p:cNvSpPr/>
          <p:nvPr/>
        </p:nvSpPr>
        <p:spPr>
          <a:xfrm rot="12717862">
            <a:off x="5550436" y="3457310"/>
            <a:ext cx="530878" cy="387856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A92387-B998-EC0E-B312-029D81D72717}"/>
              </a:ext>
            </a:extLst>
          </p:cNvPr>
          <p:cNvSpPr/>
          <p:nvPr/>
        </p:nvSpPr>
        <p:spPr>
          <a:xfrm>
            <a:off x="2843968" y="5038787"/>
            <a:ext cx="264992" cy="43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29F2DE-1DB3-6606-C202-5E7A3B755790}"/>
              </a:ext>
            </a:extLst>
          </p:cNvPr>
          <p:cNvSpPr/>
          <p:nvPr/>
        </p:nvSpPr>
        <p:spPr>
          <a:xfrm>
            <a:off x="3108960" y="5038787"/>
            <a:ext cx="190500" cy="43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BC0A93-359E-ABBE-A82E-B603468756DC}"/>
              </a:ext>
            </a:extLst>
          </p:cNvPr>
          <p:cNvSpPr/>
          <p:nvPr/>
        </p:nvSpPr>
        <p:spPr>
          <a:xfrm>
            <a:off x="3299460" y="5038787"/>
            <a:ext cx="264992" cy="43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F0E251-2D6A-6E34-67F5-48E2501ABF25}"/>
              </a:ext>
            </a:extLst>
          </p:cNvPr>
          <p:cNvSpPr txBox="1"/>
          <p:nvPr/>
        </p:nvSpPr>
        <p:spPr>
          <a:xfrm>
            <a:off x="-328155" y="5675903"/>
            <a:ext cx="98003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S</a:t>
            </a:r>
            <a:r>
              <a:rPr lang="en-US" sz="2800" dirty="0"/>
              <a:t>implified</a:t>
            </a:r>
            <a:r>
              <a:rPr lang="en-US" sz="2800" dirty="0">
                <a:solidFill>
                  <a:srgbClr val="FF0000"/>
                </a:solidFill>
              </a:rPr>
              <a:t> M</a:t>
            </a:r>
            <a:r>
              <a:rPr lang="en-US" sz="2800" dirty="0"/>
              <a:t>olecular</a:t>
            </a:r>
            <a:r>
              <a:rPr lang="en-US" sz="2800" dirty="0">
                <a:solidFill>
                  <a:srgbClr val="FF0000"/>
                </a:solidFill>
              </a:rPr>
              <a:t> I</a:t>
            </a:r>
            <a:r>
              <a:rPr lang="en-US" sz="2800" dirty="0"/>
              <a:t>nput</a:t>
            </a:r>
            <a:r>
              <a:rPr lang="en-US" sz="2800" dirty="0">
                <a:solidFill>
                  <a:srgbClr val="FF0000"/>
                </a:solidFill>
              </a:rPr>
              <a:t> L</a:t>
            </a:r>
            <a:r>
              <a:rPr lang="en-US" sz="2800" dirty="0"/>
              <a:t>ine</a:t>
            </a:r>
            <a:r>
              <a:rPr lang="en-US" sz="2800" dirty="0">
                <a:solidFill>
                  <a:srgbClr val="FF0000"/>
                </a:solidFill>
              </a:rPr>
              <a:t> E</a:t>
            </a:r>
            <a:r>
              <a:rPr lang="en-US" sz="2800" dirty="0"/>
              <a:t>ntry</a:t>
            </a:r>
            <a:r>
              <a:rPr lang="en-US" sz="2800" dirty="0">
                <a:solidFill>
                  <a:srgbClr val="FF0000"/>
                </a:solidFill>
              </a:rPr>
              <a:t> S</a:t>
            </a:r>
            <a:r>
              <a:rPr lang="en-US" sz="2800" dirty="0"/>
              <a:t>ystem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BC1DD8-CBBD-5BE3-212F-6AD7D055C3C3}"/>
              </a:ext>
            </a:extLst>
          </p:cNvPr>
          <p:cNvSpPr/>
          <p:nvPr/>
        </p:nvSpPr>
        <p:spPr>
          <a:xfrm>
            <a:off x="3520440" y="5038787"/>
            <a:ext cx="147320" cy="43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40F4DD-A63B-E9B3-1A5E-FA74BC80B26E}"/>
              </a:ext>
            </a:extLst>
          </p:cNvPr>
          <p:cNvSpPr/>
          <p:nvPr/>
        </p:nvSpPr>
        <p:spPr>
          <a:xfrm>
            <a:off x="3637136" y="5038787"/>
            <a:ext cx="264992" cy="43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6FD7C3-16B1-498E-8E99-6E60261F561D}"/>
              </a:ext>
            </a:extLst>
          </p:cNvPr>
          <p:cNvSpPr/>
          <p:nvPr/>
        </p:nvSpPr>
        <p:spPr>
          <a:xfrm>
            <a:off x="3902128" y="5038787"/>
            <a:ext cx="237240" cy="43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030D72-131D-B0D1-9015-81CEB8C452D2}"/>
              </a:ext>
            </a:extLst>
          </p:cNvPr>
          <p:cNvSpPr/>
          <p:nvPr/>
        </p:nvSpPr>
        <p:spPr>
          <a:xfrm>
            <a:off x="4136496" y="5038787"/>
            <a:ext cx="237240" cy="43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BE5C9C5-1928-328D-821E-13C1F8447253}"/>
              </a:ext>
            </a:extLst>
          </p:cNvPr>
          <p:cNvSpPr/>
          <p:nvPr/>
        </p:nvSpPr>
        <p:spPr>
          <a:xfrm>
            <a:off x="4334759" y="5038787"/>
            <a:ext cx="237240" cy="43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E8994A-6A27-BA52-5F19-C5D9598DF5E9}"/>
              </a:ext>
            </a:extLst>
          </p:cNvPr>
          <p:cNvSpPr/>
          <p:nvPr/>
        </p:nvSpPr>
        <p:spPr>
          <a:xfrm>
            <a:off x="4588954" y="5038787"/>
            <a:ext cx="237240" cy="43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CB2ABB-A60E-33C9-6357-0C09080DBBB5}"/>
              </a:ext>
            </a:extLst>
          </p:cNvPr>
          <p:cNvSpPr/>
          <p:nvPr/>
        </p:nvSpPr>
        <p:spPr>
          <a:xfrm>
            <a:off x="4843149" y="5038787"/>
            <a:ext cx="210725" cy="43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0B388-A496-B6F0-55AA-C86EF7BEAA02}"/>
              </a:ext>
            </a:extLst>
          </p:cNvPr>
          <p:cNvSpPr/>
          <p:nvPr/>
        </p:nvSpPr>
        <p:spPr>
          <a:xfrm>
            <a:off x="5033839" y="5038787"/>
            <a:ext cx="271027" cy="43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E1F329-4867-E64D-7D1D-CD7E8EFF52EB}"/>
              </a:ext>
            </a:extLst>
          </p:cNvPr>
          <p:cNvSpPr/>
          <p:nvPr/>
        </p:nvSpPr>
        <p:spPr>
          <a:xfrm>
            <a:off x="5279751" y="5038787"/>
            <a:ext cx="271027" cy="43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83B59D-878C-8E36-2234-1E3CB662C43B}"/>
              </a:ext>
            </a:extLst>
          </p:cNvPr>
          <p:cNvSpPr/>
          <p:nvPr/>
        </p:nvSpPr>
        <p:spPr>
          <a:xfrm>
            <a:off x="5530726" y="5038787"/>
            <a:ext cx="271027" cy="43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C9C3983-D4B6-34CA-D646-99F6E80681CA}"/>
              </a:ext>
            </a:extLst>
          </p:cNvPr>
          <p:cNvSpPr/>
          <p:nvPr/>
        </p:nvSpPr>
        <p:spPr>
          <a:xfrm>
            <a:off x="5788836" y="5038787"/>
            <a:ext cx="134445" cy="43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16D031-4191-D5C6-4F96-F0BCB24C0A4D}"/>
              </a:ext>
            </a:extLst>
          </p:cNvPr>
          <p:cNvSpPr/>
          <p:nvPr/>
        </p:nvSpPr>
        <p:spPr>
          <a:xfrm>
            <a:off x="5923281" y="5038787"/>
            <a:ext cx="134445" cy="43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4BD7382-7397-3BD5-AFDF-F7835089E500}"/>
              </a:ext>
            </a:extLst>
          </p:cNvPr>
          <p:cNvSpPr/>
          <p:nvPr/>
        </p:nvSpPr>
        <p:spPr>
          <a:xfrm>
            <a:off x="6071429" y="5038787"/>
            <a:ext cx="283651" cy="43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F93FF81D-6B01-C2EB-81E4-CB07356B21FD}"/>
              </a:ext>
            </a:extLst>
          </p:cNvPr>
          <p:cNvSpPr/>
          <p:nvPr/>
        </p:nvSpPr>
        <p:spPr>
          <a:xfrm rot="12717862">
            <a:off x="5550437" y="2976941"/>
            <a:ext cx="530878" cy="387856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97E54833-9C45-2944-D478-55591CF95172}"/>
              </a:ext>
            </a:extLst>
          </p:cNvPr>
          <p:cNvSpPr/>
          <p:nvPr/>
        </p:nvSpPr>
        <p:spPr>
          <a:xfrm rot="5400000">
            <a:off x="5122517" y="2139985"/>
            <a:ext cx="530878" cy="387856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BBEF51E-4CBB-4388-8E02-4AF0391A0F02}"/>
              </a:ext>
            </a:extLst>
          </p:cNvPr>
          <p:cNvSpPr/>
          <p:nvPr/>
        </p:nvSpPr>
        <p:spPr>
          <a:xfrm rot="5400000">
            <a:off x="4594506" y="1699914"/>
            <a:ext cx="530878" cy="387856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B3FD7BE6-0B21-6FA0-BED1-2FCAE0F9BF22}"/>
              </a:ext>
            </a:extLst>
          </p:cNvPr>
          <p:cNvSpPr/>
          <p:nvPr/>
        </p:nvSpPr>
        <p:spPr>
          <a:xfrm rot="5400000">
            <a:off x="4066495" y="2153399"/>
            <a:ext cx="530878" cy="387856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236D31BF-FAEE-2EEF-CED3-A7D81424762C}"/>
              </a:ext>
            </a:extLst>
          </p:cNvPr>
          <p:cNvSpPr/>
          <p:nvPr/>
        </p:nvSpPr>
        <p:spPr>
          <a:xfrm rot="5400000">
            <a:off x="3553557" y="1897853"/>
            <a:ext cx="530878" cy="387856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BEE096D3-4D83-C577-7350-C639DA86D776}"/>
              </a:ext>
            </a:extLst>
          </p:cNvPr>
          <p:cNvSpPr/>
          <p:nvPr/>
        </p:nvSpPr>
        <p:spPr>
          <a:xfrm rot="2700000">
            <a:off x="2779849" y="2321285"/>
            <a:ext cx="530878" cy="387856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D623EFEA-F290-6DC7-A697-4ACB86C32FDE}"/>
              </a:ext>
            </a:extLst>
          </p:cNvPr>
          <p:cNvSpPr/>
          <p:nvPr/>
        </p:nvSpPr>
        <p:spPr>
          <a:xfrm>
            <a:off x="2673332" y="2837548"/>
            <a:ext cx="530878" cy="387856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AA04FABD-3A2F-AB78-342F-672E6005E3F0}"/>
              </a:ext>
            </a:extLst>
          </p:cNvPr>
          <p:cNvSpPr/>
          <p:nvPr/>
        </p:nvSpPr>
        <p:spPr>
          <a:xfrm rot="19800000">
            <a:off x="2708170" y="3343858"/>
            <a:ext cx="530878" cy="387856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388D55BA-D20D-F07D-B621-5C97A205FB8A}"/>
              </a:ext>
            </a:extLst>
          </p:cNvPr>
          <p:cNvSpPr/>
          <p:nvPr/>
        </p:nvSpPr>
        <p:spPr>
          <a:xfrm rot="16200000">
            <a:off x="3553557" y="3801961"/>
            <a:ext cx="530878" cy="387856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0C9B95EA-E5BD-9FE9-A5C2-30CAFD1B0BE0}"/>
              </a:ext>
            </a:extLst>
          </p:cNvPr>
          <p:cNvSpPr/>
          <p:nvPr/>
        </p:nvSpPr>
        <p:spPr>
          <a:xfrm rot="13500000">
            <a:off x="4319293" y="3381679"/>
            <a:ext cx="530878" cy="387856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BA0720B1-29E2-40C5-A121-625DA1AC11B5}"/>
              </a:ext>
            </a:extLst>
          </p:cNvPr>
          <p:cNvSpPr/>
          <p:nvPr/>
        </p:nvSpPr>
        <p:spPr>
          <a:xfrm rot="10800000">
            <a:off x="6012103" y="2256712"/>
            <a:ext cx="530878" cy="387856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92CAB8-D8E3-EF3F-CD16-62FC55599E8A}"/>
              </a:ext>
            </a:extLst>
          </p:cNvPr>
          <p:cNvSpPr txBox="1"/>
          <p:nvPr/>
        </p:nvSpPr>
        <p:spPr>
          <a:xfrm>
            <a:off x="-328155" y="6199123"/>
            <a:ext cx="98003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SMILES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8003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6" grpId="0" animBg="1"/>
      <p:bldP spid="16" grpId="1" animBg="1"/>
      <p:bldP spid="18" grpId="0" animBg="1"/>
      <p:bldP spid="19" grpId="0" animBg="1"/>
      <p:bldP spid="20" grpId="0" animBg="1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40CEF-0A92-A373-8AC7-D2D3F7868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0F54B-3E22-1946-57C1-746CDE99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Molecules in 3D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E99BC-BEB2-218C-9CF4-BAB175DB2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XYZ format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7EC3BE-DA4E-79F8-7905-93E7CE0D247B}"/>
              </a:ext>
            </a:extLst>
          </p:cNvPr>
          <p:cNvSpPr txBox="1"/>
          <p:nvPr/>
        </p:nvSpPr>
        <p:spPr>
          <a:xfrm>
            <a:off x="3536157" y="1968559"/>
            <a:ext cx="57963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Comment line. Can be blank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       -1.446210000      1.270070000      0.747456000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       -0.486601000      1.223970000      1.563790000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        0.625008000      0.401471000      1.330890000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        0.808628000     -0.429382000      0.178474000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        1.005920000      0.426254000     -1.096010000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        0.928128000     -0.439367000     -2.323250000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       -0.050380100     -1.347130000     -2.424190000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       -1.040170000     -1.492780000     -1.300800000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       -0.314302000     -1.508160000      0.057636300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       -0.516296000      2.085090000      2.780130000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        1.764670000     -0.977125000      0.333702000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        1.989370000      0.942079000     -1.060740000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        0.216833000      1.202730000     -1.170510000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        1.683420000     -0.360387000     -3.099050000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       -0.093452100     -2.011200000     -3.281920000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       -1.746640000     -0.635417000     -1.331250000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       -1.625050000     -2.428280000     -1.430830000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        0.140877000     -2.514170000      0.194326000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       -1.064870000     -1.395000000      0.868704000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       -0.203855000      3.115450000      2.511290000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       -1.542680000      2.110940000      3.203100000</a:t>
            </a:r>
          </a:p>
          <a:p>
            <a:r>
              <a:rPr 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        0.177496000      1.682650000      3.547680000</a:t>
            </a:r>
            <a:endParaRPr lang="en-A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EB4365-1109-1522-7FA5-72BC8FBE3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8" y="3130736"/>
            <a:ext cx="3102665" cy="219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233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00AB5-109F-FB7A-67AC-CFE0247B2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C3152-3A22-16B6-3F2D-C9F5D1382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RDKit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A0538-5D79-56BD-0672-FAC295950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/>
              <a:t>RDKit</a:t>
            </a:r>
            <a:r>
              <a:rPr lang="en-US" dirty="0"/>
              <a:t> is an </a:t>
            </a:r>
            <a:r>
              <a:rPr lang="en-US" b="1" dirty="0"/>
              <a:t>open-source cheminformatics toolkit</a:t>
            </a:r>
            <a:r>
              <a:rPr lang="en-US" dirty="0"/>
              <a:t> for working with chemical structures in Python. It provides the core functionality needed to represent, analyze, and visualize molecules.</a:t>
            </a:r>
          </a:p>
          <a:p>
            <a:pPr marL="0" indent="0">
              <a:buNone/>
            </a:pPr>
            <a:r>
              <a:rPr lang="en-US" dirty="0"/>
              <a:t>It allows us to:</a:t>
            </a:r>
          </a:p>
          <a:p>
            <a:r>
              <a:rPr lang="en-US" b="1" dirty="0"/>
              <a:t>Read and write</a:t>
            </a:r>
            <a:r>
              <a:rPr lang="en-US" dirty="0"/>
              <a:t> molecules</a:t>
            </a:r>
          </a:p>
          <a:p>
            <a:r>
              <a:rPr lang="en-US" b="1" dirty="0"/>
              <a:t>Compute</a:t>
            </a:r>
            <a:r>
              <a:rPr lang="en-US" dirty="0"/>
              <a:t> properties and molecular descriptors</a:t>
            </a:r>
          </a:p>
          <a:p>
            <a:r>
              <a:rPr lang="en-US" b="1" dirty="0"/>
              <a:t>Generate</a:t>
            </a:r>
            <a:r>
              <a:rPr lang="en-US" dirty="0"/>
              <a:t> 2D depictions and 3D conformers</a:t>
            </a:r>
          </a:p>
          <a:p>
            <a:r>
              <a:rPr lang="en-US" b="1" dirty="0"/>
              <a:t>Search</a:t>
            </a:r>
            <a:r>
              <a:rPr lang="en-US" dirty="0"/>
              <a:t> and compare structures (substructure, similarity)</a:t>
            </a:r>
          </a:p>
          <a:p>
            <a:r>
              <a:rPr lang="en-US" b="1" dirty="0"/>
              <a:t>Prepare</a:t>
            </a:r>
            <a:r>
              <a:rPr lang="en-US" dirty="0"/>
              <a:t> data for </a:t>
            </a:r>
            <a:r>
              <a:rPr lang="en-US" b="1" dirty="0"/>
              <a:t>machine learning and modeling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97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A3330-D37A-2C2A-D465-5BC3465A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0FE5-7BEF-5C83-356F-C00C3EA93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Section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E4907-2859-1FD6-A8E7-999B3BAB4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200" b="1" dirty="0"/>
              <a:t>teaching.svatunek-lab.com/malaya1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In this section, we explore how chemistry can be represented and analyzed directly in Python using </a:t>
            </a:r>
            <a:r>
              <a:rPr lang="en-US" b="1" i="1" dirty="0" err="1"/>
              <a:t>RDKit</a:t>
            </a:r>
            <a:r>
              <a:rPr lang="en-US" i="1" dirty="0"/>
              <a:t>.</a:t>
            </a:r>
          </a:p>
        </p:txBody>
      </p:sp>
      <p:pic>
        <p:nvPicPr>
          <p:cNvPr id="5" name="Picture 4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0EA89D23-D727-77F6-DD60-BBF99782E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725" y="2400300"/>
            <a:ext cx="211455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497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4ED52-05EA-6672-9690-5EC57BF1A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4C558-3596-7CB1-3099-8414F1ABD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19F4F-DCEC-73CA-16B6-7E1AFDB71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Machine learning connects </a:t>
            </a:r>
            <a:r>
              <a:rPr lang="en-US" b="1" dirty="0"/>
              <a:t>data</a:t>
            </a:r>
            <a:r>
              <a:rPr lang="en-US" dirty="0"/>
              <a:t> with </a:t>
            </a:r>
            <a:r>
              <a:rPr lang="en-US" b="1" dirty="0"/>
              <a:t>chemical properties and </a:t>
            </a:r>
            <a:r>
              <a:rPr lang="en-US" b="1" dirty="0" err="1"/>
              <a:t>behavior</a:t>
            </a:r>
            <a:r>
              <a:rPr lang="en-US" dirty="0" err="1"/>
              <a:t>.By</a:t>
            </a:r>
            <a:r>
              <a:rPr lang="en-US" dirty="0"/>
              <a:t> training models on known data, we can predict properties of new molecules.</a:t>
            </a:r>
          </a:p>
          <a:p>
            <a:pPr marL="0" indent="0">
              <a:buNone/>
            </a:pPr>
            <a:r>
              <a:rPr lang="en-US" dirty="0"/>
              <a:t>It allows us to:</a:t>
            </a:r>
          </a:p>
          <a:p>
            <a:r>
              <a:rPr lang="en-US" b="1" dirty="0"/>
              <a:t>Correlate</a:t>
            </a:r>
            <a:r>
              <a:rPr lang="en-US" dirty="0"/>
              <a:t> molecular structure or descriptors with properties</a:t>
            </a:r>
          </a:p>
          <a:p>
            <a:r>
              <a:rPr lang="en-US" b="1" dirty="0"/>
              <a:t>Predict</a:t>
            </a:r>
            <a:r>
              <a:rPr lang="en-US" dirty="0"/>
              <a:t> activity or stability of new compounds before synthesis</a:t>
            </a:r>
          </a:p>
          <a:p>
            <a:r>
              <a:rPr lang="en-US" b="1" dirty="0"/>
              <a:t>Classify</a:t>
            </a:r>
            <a:r>
              <a:rPr lang="en-US" dirty="0"/>
              <a:t> molecules into functional or activity groups</a:t>
            </a:r>
          </a:p>
          <a:p>
            <a:r>
              <a:rPr lang="en-US" b="1" dirty="0"/>
              <a:t>Accelerate</a:t>
            </a:r>
            <a:r>
              <a:rPr lang="en-US" dirty="0"/>
              <a:t> discovery by learning from experimental or computed datasets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682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F5D85-2949-4A08-6DCD-F83150237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12763-451C-A711-731E-BC185FAC5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9F64A6B-58BA-A593-62FE-869C931BFDA2}"/>
              </a:ext>
            </a:extLst>
          </p:cNvPr>
          <p:cNvSpPr/>
          <p:nvPr/>
        </p:nvSpPr>
        <p:spPr>
          <a:xfrm>
            <a:off x="3711178" y="3353274"/>
            <a:ext cx="1721644" cy="4929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Hungry?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A8097D9-9404-5C86-1F05-0049B5BE7F4F}"/>
              </a:ext>
            </a:extLst>
          </p:cNvPr>
          <p:cNvCxnSpPr/>
          <p:nvPr/>
        </p:nvCxnSpPr>
        <p:spPr>
          <a:xfrm flipH="1">
            <a:off x="3200401" y="3904609"/>
            <a:ext cx="442912" cy="32861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F756589-4A84-B7FC-B215-C808BBF99F20}"/>
              </a:ext>
            </a:extLst>
          </p:cNvPr>
          <p:cNvSpPr txBox="1"/>
          <p:nvPr/>
        </p:nvSpPr>
        <p:spPr>
          <a:xfrm>
            <a:off x="2828925" y="3699583"/>
            <a:ext cx="543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79ACF2-C8F1-6AAF-5DC7-FFA499B5AED3}"/>
              </a:ext>
            </a:extLst>
          </p:cNvPr>
          <p:cNvCxnSpPr>
            <a:cxnSpLocks/>
          </p:cNvCxnSpPr>
          <p:nvPr/>
        </p:nvCxnSpPr>
        <p:spPr>
          <a:xfrm>
            <a:off x="5500861" y="3904609"/>
            <a:ext cx="442912" cy="32861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8390120-C3E7-633D-028B-12DD224FA976}"/>
              </a:ext>
            </a:extLst>
          </p:cNvPr>
          <p:cNvSpPr txBox="1"/>
          <p:nvPr/>
        </p:nvSpPr>
        <p:spPr>
          <a:xfrm flipH="1">
            <a:off x="5903965" y="369958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174191-A254-0178-D01A-396BA703641A}"/>
              </a:ext>
            </a:extLst>
          </p:cNvPr>
          <p:cNvSpPr/>
          <p:nvPr/>
        </p:nvSpPr>
        <p:spPr>
          <a:xfrm>
            <a:off x="5943773" y="4291722"/>
            <a:ext cx="1721644" cy="492919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Get a drink!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E326548-08F2-D3F8-F39A-1C616DFD76D0}"/>
              </a:ext>
            </a:extLst>
          </p:cNvPr>
          <p:cNvSpPr/>
          <p:nvPr/>
        </p:nvSpPr>
        <p:spPr>
          <a:xfrm>
            <a:off x="2339406" y="4291722"/>
            <a:ext cx="1721644" cy="4929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Vegetarian?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62D672D-FE8C-0F13-D45B-ED788A391668}"/>
              </a:ext>
            </a:extLst>
          </p:cNvPr>
          <p:cNvCxnSpPr/>
          <p:nvPr/>
        </p:nvCxnSpPr>
        <p:spPr>
          <a:xfrm flipH="1">
            <a:off x="1853803" y="4784641"/>
            <a:ext cx="442912" cy="32861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98E7907-AFE8-2727-6F3B-DA8A22288FEA}"/>
              </a:ext>
            </a:extLst>
          </p:cNvPr>
          <p:cNvCxnSpPr>
            <a:cxnSpLocks/>
          </p:cNvCxnSpPr>
          <p:nvPr/>
        </p:nvCxnSpPr>
        <p:spPr>
          <a:xfrm>
            <a:off x="4093542" y="4804570"/>
            <a:ext cx="442912" cy="32861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B848700-267F-32CC-24C9-FBCACD0DE94E}"/>
              </a:ext>
            </a:extLst>
          </p:cNvPr>
          <p:cNvSpPr/>
          <p:nvPr/>
        </p:nvSpPr>
        <p:spPr>
          <a:xfrm>
            <a:off x="3643313" y="5174778"/>
            <a:ext cx="1957214" cy="492919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Get chicken rice!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15401BB-E7F2-66FD-8468-AEAEA1949E96}"/>
              </a:ext>
            </a:extLst>
          </p:cNvPr>
          <p:cNvSpPr/>
          <p:nvPr/>
        </p:nvSpPr>
        <p:spPr>
          <a:xfrm>
            <a:off x="992981" y="5174778"/>
            <a:ext cx="1835944" cy="492919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Get a salad!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B748A3-54FA-B38A-9D78-1F7ADE28A857}"/>
              </a:ext>
            </a:extLst>
          </p:cNvPr>
          <p:cNvSpPr txBox="1"/>
          <p:nvPr/>
        </p:nvSpPr>
        <p:spPr>
          <a:xfrm>
            <a:off x="1371600" y="4638116"/>
            <a:ext cx="543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E6CECB-A6C6-3F67-99D3-6367519327B2}"/>
              </a:ext>
            </a:extLst>
          </p:cNvPr>
          <p:cNvSpPr txBox="1"/>
          <p:nvPr/>
        </p:nvSpPr>
        <p:spPr>
          <a:xfrm flipH="1">
            <a:off x="4446640" y="4638116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3488185-E374-4BEA-3726-258C98DEA545}"/>
              </a:ext>
            </a:extLst>
          </p:cNvPr>
          <p:cNvSpPr txBox="1">
            <a:spLocks/>
          </p:cNvSpPr>
          <p:nvPr/>
        </p:nvSpPr>
        <p:spPr>
          <a:xfrm>
            <a:off x="628650" y="130413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 </a:t>
            </a:r>
            <a:r>
              <a:rPr lang="en-US" b="1" dirty="0"/>
              <a:t>decision tree</a:t>
            </a:r>
            <a:r>
              <a:rPr lang="en-US" dirty="0"/>
              <a:t> predicts an outcome by repeatedly splitting data based on feature thresholds, creating a series of if–then rules that lead to a final prediction at each leaf.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33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2" grpId="0"/>
      <p:bldP spid="13" grpId="0" animBg="1"/>
      <p:bldP spid="14" grpId="0" animBg="1"/>
      <p:bldP spid="17" grpId="0" animBg="1"/>
      <p:bldP spid="18" grpId="0" animBg="1"/>
      <p:bldP spid="21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3F8EA-CAAB-5F59-6FE5-57C68C975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D95DE-B132-D588-B88E-34704EDE4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C7025-62D7-D56A-987E-BD045899B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04131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decision tree</a:t>
            </a:r>
            <a:r>
              <a:rPr lang="en-US" dirty="0"/>
              <a:t> predicts an outcome by repeatedly splitting data based on feature thresholds, creating a series of if–then rules that lead to a final prediction at each leaf.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In regression it predicts the </a:t>
            </a:r>
            <a:r>
              <a:rPr lang="en-US" b="1" dirty="0"/>
              <a:t>average value</a:t>
            </a:r>
            <a:r>
              <a:rPr lang="en-US" dirty="0"/>
              <a:t> of samples in a leaf, while in classification it predicts the </a:t>
            </a:r>
            <a:r>
              <a:rPr lang="en-US" b="1" dirty="0"/>
              <a:t>most common class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868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0958E-A701-7392-9C57-A6A082FEC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89CDC-C7DA-25AA-11DB-B7DEF2EFD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D7624-9547-F9E4-1FFC-85C12BFC8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random forest combines the predictions of many individual decision trees, each trained on different subsets of data, to produce a more accurate and stable overall result.</a:t>
            </a:r>
          </a:p>
        </p:txBody>
      </p:sp>
    </p:spTree>
    <p:extLst>
      <p:ext uri="{BB962C8B-B14F-4D97-AF65-F5344CB8AC3E}">
        <p14:creationId xmlns:p14="http://schemas.microsoft.com/office/powerpoint/2010/main" val="3463521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4EFAA-7FAE-DD40-71AE-019909B20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4F73C-C96E-09A1-66DE-36A414AD4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200" b="1" dirty="0"/>
              <a:t>teaching.svatunek-lab.com/malaya2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In this section, we learn how to make predictions from chemical data with basic machine learning tools. </a:t>
            </a:r>
          </a:p>
        </p:txBody>
      </p:sp>
      <p:pic>
        <p:nvPicPr>
          <p:cNvPr id="6" name="Picture 5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5CCEF712-FA9C-C59F-FEF2-BB6EE978B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390" y="2400300"/>
            <a:ext cx="2141220" cy="21412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8EC7C8-B201-B613-C425-575F00FDA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Section 2</a:t>
            </a:r>
          </a:p>
        </p:txBody>
      </p:sp>
    </p:spTree>
    <p:extLst>
      <p:ext uri="{BB962C8B-B14F-4D97-AF65-F5344CB8AC3E}">
        <p14:creationId xmlns:p14="http://schemas.microsoft.com/office/powerpoint/2010/main" val="3749588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3047F-A0BC-DC06-1A30-E960521EB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A828F-6525-3011-A353-BFFFF6C3F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Bonus: Quantum Chemistry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05B7D-0A1B-6778-07B0-B752276E4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/>
              <a:t>PySCF</a:t>
            </a:r>
            <a:r>
              <a:rPr lang="en-US" dirty="0"/>
              <a:t> brings </a:t>
            </a:r>
            <a:r>
              <a:rPr lang="en-US" i="1" dirty="0"/>
              <a:t>quantum mechanics</a:t>
            </a:r>
            <a:r>
              <a:rPr lang="en-US" dirty="0"/>
              <a:t> into Python, allowing us to compute chemical properties directly from first principles.</a:t>
            </a:r>
            <a:br>
              <a:rPr lang="en-US" dirty="0"/>
            </a:br>
            <a:r>
              <a:rPr lang="en-US" dirty="0"/>
              <a:t>With only a few lines of code, we can run quantum-mechanical calculations, and analyze results.</a:t>
            </a:r>
          </a:p>
          <a:p>
            <a:pPr marL="0" indent="0">
              <a:buNone/>
            </a:pPr>
            <a:r>
              <a:rPr lang="en-US" dirty="0"/>
              <a:t>It allows us to:</a:t>
            </a:r>
          </a:p>
          <a:p>
            <a:r>
              <a:rPr lang="en-US" b="1" dirty="0"/>
              <a:t>Compute</a:t>
            </a:r>
            <a:r>
              <a:rPr lang="en-US" dirty="0"/>
              <a:t> molecular energies, orbitals, and electron densities</a:t>
            </a:r>
          </a:p>
          <a:p>
            <a:r>
              <a:rPr lang="en-US" b="1" dirty="0"/>
              <a:t>Optimize</a:t>
            </a:r>
            <a:r>
              <a:rPr lang="en-US" dirty="0"/>
              <a:t> structures or scan reaction coordinates</a:t>
            </a:r>
          </a:p>
          <a:p>
            <a:r>
              <a:rPr lang="en-US" b="1" dirty="0"/>
              <a:t>Visualize</a:t>
            </a:r>
            <a:r>
              <a:rPr lang="en-US" dirty="0"/>
              <a:t> orbitals and charge distributions interactively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187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CA06D-6A12-CBE0-1D71-39F7B7CBE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F1516EDB-1A5D-E285-D6B6-18CE37776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180" y="2400300"/>
            <a:ext cx="2453640" cy="24536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BA628B-01C2-1516-C043-03806456B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Bonus: Practical Section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17C4C-8D7C-7152-27F5-5C2B0E237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200" b="1" dirty="0"/>
              <a:t>teaching.svatunek-lab.com/malaya3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In this section, we explore how quantum mechanics can be used to calculate molecular structures, energies, and properties from first principles.</a:t>
            </a:r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70298342-B075-5B7D-FD0F-92CFAE09F8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180" y="2400300"/>
            <a:ext cx="2453640" cy="245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174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3D78D-A9AA-5C95-04BE-99B90C4D9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77FB183-7E7B-162C-7FE0-16B4071046AA}"/>
              </a:ext>
            </a:extLst>
          </p:cNvPr>
          <p:cNvSpPr txBox="1">
            <a:spLocks/>
          </p:cNvSpPr>
          <p:nvPr/>
        </p:nvSpPr>
        <p:spPr>
          <a:xfrm>
            <a:off x="-228600" y="4828966"/>
            <a:ext cx="10515600" cy="1793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/>
              <a:t> dennis.svatunek@tuwien.ac.at</a:t>
            </a:r>
          </a:p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endParaRPr lang="en-US" sz="3600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Graphic 3" descr="Envelope with solid fill">
            <a:extLst>
              <a:ext uri="{FF2B5EF4-FFF2-40B4-BE49-F238E27FC236}">
                <a16:creationId xmlns:a16="http://schemas.microsoft.com/office/drawing/2014/main" id="{A67EB98B-933C-524B-863D-E3414678D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6547" y="4769150"/>
            <a:ext cx="710107" cy="71010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42022-C7F2-F456-F5DB-A5563433A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63" y="2095255"/>
            <a:ext cx="3315743" cy="1793082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b="1" dirty="0"/>
              <a:t>svatunek-lab.com</a:t>
            </a:r>
          </a:p>
          <a:p>
            <a:pPr marL="0" indent="0" algn="ctr">
              <a:buNone/>
            </a:pPr>
            <a:endParaRPr lang="en-US" sz="2400" b="1" dirty="0"/>
          </a:p>
          <a:p>
            <a:pPr marL="0" indent="0" algn="ctr">
              <a:buNone/>
            </a:pPr>
            <a:endParaRPr lang="en-US" sz="2400" b="1" dirty="0"/>
          </a:p>
          <a:p>
            <a:pPr marL="0" indent="0" algn="ctr">
              <a:buNone/>
            </a:pPr>
            <a:endParaRPr lang="en-US" sz="2400" b="1" dirty="0"/>
          </a:p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7" name="Picture 6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5C2ABE64-3705-5481-228D-2B95E5063A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694" y="2464249"/>
            <a:ext cx="1793081" cy="17930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6B10C5-0567-1B8A-B13E-2A66A792669A}"/>
              </a:ext>
            </a:extLst>
          </p:cNvPr>
          <p:cNvSpPr txBox="1"/>
          <p:nvPr/>
        </p:nvSpPr>
        <p:spPr>
          <a:xfrm>
            <a:off x="3809407" y="2095256"/>
            <a:ext cx="60971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teaching.svatunek-lab.com</a:t>
            </a:r>
          </a:p>
        </p:txBody>
      </p:sp>
      <p:pic>
        <p:nvPicPr>
          <p:cNvPr id="12" name="Picture 11" descr="A qr code with a few black squares&#10;&#10;AI-generated content may be incorrect.">
            <a:extLst>
              <a:ext uri="{FF2B5EF4-FFF2-40B4-BE49-F238E27FC236}">
                <a16:creationId xmlns:a16="http://schemas.microsoft.com/office/drawing/2014/main" id="{23E0CF13-A09D-2A57-A20E-60A2CC4F63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461" y="2464249"/>
            <a:ext cx="1793081" cy="179308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AC38D1D-DBE0-D784-C635-C7D4868A07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235952"/>
            <a:ext cx="5928270" cy="11856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C87E6F-46E3-A928-888A-28FD1C5D16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121" y="235953"/>
            <a:ext cx="2285999" cy="104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422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738</TotalTime>
  <Words>840</Words>
  <Application>Microsoft Office PowerPoint</Application>
  <PresentationFormat>On-screen Show (4:3)</PresentationFormat>
  <Paragraphs>131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Courier New</vt:lpstr>
      <vt:lpstr>Office Theme</vt:lpstr>
      <vt:lpstr>Why Chemistry Needs Python</vt:lpstr>
      <vt:lpstr>PowerPoint Presentation</vt:lpstr>
      <vt:lpstr>What is Computational Chemistry?</vt:lpstr>
      <vt:lpstr>What is Cheminformatics?</vt:lpstr>
      <vt:lpstr>Why Python in Chemistry?</vt:lpstr>
      <vt:lpstr>Digital Molecules</vt:lpstr>
      <vt:lpstr>Digital Molecules in 3D</vt:lpstr>
      <vt:lpstr>RDKit</vt:lpstr>
      <vt:lpstr>Practical Section 1</vt:lpstr>
      <vt:lpstr>Machine Learning</vt:lpstr>
      <vt:lpstr>Decision Tree</vt:lpstr>
      <vt:lpstr>Decision Tree</vt:lpstr>
      <vt:lpstr>Random Forest</vt:lpstr>
      <vt:lpstr>Practical Section 2</vt:lpstr>
      <vt:lpstr>Bonus: Quantum Chemistry in Python</vt:lpstr>
      <vt:lpstr>Bonus: Practical Section 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Dennis Svatunek</dc:creator>
  <cp:lastModifiedBy>Dennis Svatunek</cp:lastModifiedBy>
  <cp:revision>24</cp:revision>
  <dcterms:created xsi:type="dcterms:W3CDTF">2025-10-27T22:24:59Z</dcterms:created>
  <dcterms:modified xsi:type="dcterms:W3CDTF">2025-11-05T14:39:32Z</dcterms:modified>
</cp:coreProperties>
</file>